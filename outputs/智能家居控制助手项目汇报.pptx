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44788ec10f4c1b" /><Relationship Type="http://schemas.openxmlformats.org/officeDocument/2006/relationships/extended-properties" Target="/docProps/app.xml" Id="R97065cc5f7084e84" /><Relationship Type="http://schemas.openxmlformats.org/officeDocument/2006/relationships/officeDocument" Target="/ppt/presentation.xml" Id="R056acb626e4744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48b7b61ac4e45"/>
  </p:sldMasterIdLst>
  <p:notesMasterIdLst>
    <p:notesMasterId xmlns:r="http://schemas.openxmlformats.org/officeDocument/2006/relationships" r:id="R70c97a1bf76d429a"/>
  </p:notesMasterIdLst>
  <p:sldIdLst>
    <p:sldId xmlns:r="http://schemas.openxmlformats.org/officeDocument/2006/relationships" id="256" r:id="R558e35d1ca6d41b0"/>
    <p:sldId xmlns:r="http://schemas.openxmlformats.org/officeDocument/2006/relationships" id="257" r:id="R5b1e6e6f449a4d85"/>
    <p:sldId xmlns:r="http://schemas.openxmlformats.org/officeDocument/2006/relationships" id="258" r:id="R481ba256ed664814"/>
    <p:sldId xmlns:r="http://schemas.openxmlformats.org/officeDocument/2006/relationships" id="259" r:id="R25d555a0a5a4467c"/>
    <p:sldId xmlns:r="http://schemas.openxmlformats.org/officeDocument/2006/relationships" id="260" r:id="Rf950e80662e6436d"/>
    <p:sldId xmlns:r="http://schemas.openxmlformats.org/officeDocument/2006/relationships" id="261" r:id="R874629c4a29b4209"/>
    <p:sldId xmlns:r="http://schemas.openxmlformats.org/officeDocument/2006/relationships" id="262" r:id="Rc6f7fbc43fd7490c"/>
    <p:sldId xmlns:r="http://schemas.openxmlformats.org/officeDocument/2006/relationships" id="263" r:id="R9370c00d978043bc"/>
    <p:sldId xmlns:r="http://schemas.openxmlformats.org/officeDocument/2006/relationships" id="264" r:id="R236ec086f4ca44a5"/>
    <p:sldId xmlns:r="http://schemas.openxmlformats.org/officeDocument/2006/relationships" id="265" r:id="R67601be52f834ded"/>
    <p:sldId xmlns:r="http://schemas.openxmlformats.org/officeDocument/2006/relationships" id="266" r:id="R0cc8eb55a5cb4d5d"/>
    <p:sldId xmlns:r="http://schemas.openxmlformats.org/officeDocument/2006/relationships" id="267" r:id="R48c147953f1f46fa"/>
    <p:sldId xmlns:r="http://schemas.openxmlformats.org/officeDocument/2006/relationships" id="268" r:id="R8dcc8e230b6e47d5"/>
    <p:sldId xmlns:r="http://schemas.openxmlformats.org/officeDocument/2006/relationships" id="269" r:id="Re896feddf86146a4"/>
    <p:sldId xmlns:r="http://schemas.openxmlformats.org/officeDocument/2006/relationships" id="270" r:id="R7bcaf058baaf473f"/>
    <p:sldId xmlns:r="http://schemas.openxmlformats.org/officeDocument/2006/relationships" id="271" r:id="R65a67a66eca74cc2"/>
    <p:sldId xmlns:r="http://schemas.openxmlformats.org/officeDocument/2006/relationships" id="272" r:id="R485f93ce9ad24122"/>
    <p:sldId xmlns:r="http://schemas.openxmlformats.org/officeDocument/2006/relationships" id="273" r:id="R88217b76b4b34acb"/>
    <p:sldId xmlns:r="http://schemas.openxmlformats.org/officeDocument/2006/relationships" id="274" r:id="R8b0121075450475a"/>
    <p:sldId xmlns:r="http://schemas.openxmlformats.org/officeDocument/2006/relationships" id="275" r:id="Rba224bb4502e4b4c"/>
    <p:sldId xmlns:r="http://schemas.openxmlformats.org/officeDocument/2006/relationships" id="276" r:id="R58caf7fbe9da442a"/>
    <p:sldId xmlns:r="http://schemas.openxmlformats.org/officeDocument/2006/relationships" id="277" r:id="R451d88ef6dab4a15"/>
    <p:sldId xmlns:r="http://schemas.openxmlformats.org/officeDocument/2006/relationships" id="278" r:id="R09de73f745914d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540e72ffd4e82" /><Relationship Type="http://schemas.openxmlformats.org/officeDocument/2006/relationships/slideMaster" Target="/ppt/slideMasters/slideMaster1.xml" Id="Rd0548b7b61ac4e45" /><Relationship Type="http://schemas.openxmlformats.org/officeDocument/2006/relationships/notesMaster" Target="/ppt/notesMasters/notesMaster1.xml" Id="R70c97a1bf76d429a" /><Relationship Type="http://schemas.openxmlformats.org/officeDocument/2006/relationships/presProps" Target="/ppt/presProps.xml" Id="Ra177a19f32414e04" /><Relationship Type="http://schemas.openxmlformats.org/officeDocument/2006/relationships/tableStyles" Target="/ppt/tableStyles.xml" Id="R7f6114fa67354636" /><Relationship Type="http://schemas.openxmlformats.org/officeDocument/2006/relationships/slide" Target="/ppt/slides/slide1.xml" Id="R558e35d1ca6d41b0" /><Relationship Type="http://schemas.openxmlformats.org/officeDocument/2006/relationships/slide" Target="/ppt/slides/slide2.xml" Id="R5b1e6e6f449a4d85" /><Relationship Type="http://schemas.openxmlformats.org/officeDocument/2006/relationships/slide" Target="/ppt/slides/slide3.xml" Id="R481ba256ed664814" /><Relationship Type="http://schemas.openxmlformats.org/officeDocument/2006/relationships/slide" Target="/ppt/slides/slide4.xml" Id="R25d555a0a5a4467c" /><Relationship Type="http://schemas.openxmlformats.org/officeDocument/2006/relationships/slide" Target="/ppt/slides/slide5.xml" Id="Rf950e80662e6436d" /><Relationship Type="http://schemas.openxmlformats.org/officeDocument/2006/relationships/slide" Target="/ppt/slides/slide6.xml" Id="R874629c4a29b4209" /><Relationship Type="http://schemas.openxmlformats.org/officeDocument/2006/relationships/slide" Target="/ppt/slides/slide7.xml" Id="Rc6f7fbc43fd7490c" /><Relationship Type="http://schemas.openxmlformats.org/officeDocument/2006/relationships/slide" Target="/ppt/slides/slide8.xml" Id="R9370c00d978043bc" /><Relationship Type="http://schemas.openxmlformats.org/officeDocument/2006/relationships/slide" Target="/ppt/slides/slide9.xml" Id="R236ec086f4ca44a5" /><Relationship Type="http://schemas.openxmlformats.org/officeDocument/2006/relationships/slide" Target="/ppt/slides/slide10.xml" Id="R67601be52f834ded" /><Relationship Type="http://schemas.openxmlformats.org/officeDocument/2006/relationships/slide" Target="/ppt/slides/slide11.xml" Id="R0cc8eb55a5cb4d5d" /><Relationship Type="http://schemas.openxmlformats.org/officeDocument/2006/relationships/slide" Target="/ppt/slides/slide12.xml" Id="R48c147953f1f46fa" /><Relationship Type="http://schemas.openxmlformats.org/officeDocument/2006/relationships/slide" Target="/ppt/slides/slide13.xml" Id="R8dcc8e230b6e47d5" /><Relationship Type="http://schemas.openxmlformats.org/officeDocument/2006/relationships/slide" Target="/ppt/slides/slide14.xml" Id="Re896feddf86146a4" /><Relationship Type="http://schemas.openxmlformats.org/officeDocument/2006/relationships/slide" Target="/ppt/slides/slide15.xml" Id="R7bcaf058baaf473f" /><Relationship Type="http://schemas.openxmlformats.org/officeDocument/2006/relationships/slide" Target="/ppt/slides/slide16.xml" Id="R65a67a66eca74cc2" /><Relationship Type="http://schemas.openxmlformats.org/officeDocument/2006/relationships/slide" Target="/ppt/slides/slide17.xml" Id="R485f93ce9ad24122" /><Relationship Type="http://schemas.openxmlformats.org/officeDocument/2006/relationships/slide" Target="/ppt/slides/slide18.xml" Id="R88217b76b4b34acb" /><Relationship Type="http://schemas.openxmlformats.org/officeDocument/2006/relationships/slide" Target="/ppt/slides/slide19.xml" Id="R8b0121075450475a" /><Relationship Type="http://schemas.openxmlformats.org/officeDocument/2006/relationships/slide" Target="/ppt/slides/slide20.xml" Id="Rba224bb4502e4b4c" /><Relationship Type="http://schemas.openxmlformats.org/officeDocument/2006/relationships/slide" Target="/ppt/slides/slide21.xml" Id="R58caf7fbe9da442a" /><Relationship Type="http://schemas.openxmlformats.org/officeDocument/2006/relationships/slide" Target="/ppt/slides/slide22.xml" Id="R451d88ef6dab4a15" /><Relationship Type="http://schemas.openxmlformats.org/officeDocument/2006/relationships/slide" Target="/ppt/slides/slide23.xml" Id="R09de73f745914d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3c019ea0a34c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bdd5b1fab44098" /><Relationship Type="http://schemas.openxmlformats.org/officeDocument/2006/relationships/notesMaster" Target="/ppt/notesMasters/notesMaster1.xml" Id="R0be9aae8399644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c039ecf217430f" /><Relationship Type="http://schemas.openxmlformats.org/officeDocument/2006/relationships/notesMaster" Target="/ppt/notesMasters/notesMaster1.xml" Id="R2676805b82ff41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21679352cc42bd" /><Relationship Type="http://schemas.openxmlformats.org/officeDocument/2006/relationships/notesMaster" Target="/ppt/notesMasters/notesMaster1.xml" Id="R37a658fb9c4149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0c5eae5c944917" /><Relationship Type="http://schemas.openxmlformats.org/officeDocument/2006/relationships/notesMaster" Target="/ppt/notesMasters/notesMaster1.xml" Id="Rc5961c6658eb4e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aa771f089f4436" /><Relationship Type="http://schemas.openxmlformats.org/officeDocument/2006/relationships/notesMaster" Target="/ppt/notesMasters/notesMaster1.xml" Id="R7de7ad72245a41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58d242ea7d4f87" /><Relationship Type="http://schemas.openxmlformats.org/officeDocument/2006/relationships/notesMaster" Target="/ppt/notesMasters/notesMaster1.xml" Id="Rb411bccef68948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fe87e49bd8463f" /><Relationship Type="http://schemas.openxmlformats.org/officeDocument/2006/relationships/notesMaster" Target="/ppt/notesMasters/notesMaster1.xml" Id="Rdfe37e96ff7f4f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e211ef9fc446e2" /><Relationship Type="http://schemas.openxmlformats.org/officeDocument/2006/relationships/notesMaster" Target="/ppt/notesMasters/notesMaster1.xml" Id="R7512c8bc41b741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898b435382458a" /><Relationship Type="http://schemas.openxmlformats.org/officeDocument/2006/relationships/notesMaster" Target="/ppt/notesMasters/notesMaster1.xml" Id="R03d23ea6042b4d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e1d2ca260f4636" /><Relationship Type="http://schemas.openxmlformats.org/officeDocument/2006/relationships/notesMaster" Target="/ppt/notesMasters/notesMaster1.xml" Id="R318d2ede39f847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348f8ea9c4480a" /><Relationship Type="http://schemas.openxmlformats.org/officeDocument/2006/relationships/notesMaster" Target="/ppt/notesMasters/notesMaster1.xml" Id="R4c7be08f6ff94c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1db1f13f7248fb" /><Relationship Type="http://schemas.openxmlformats.org/officeDocument/2006/relationships/notesMaster" Target="/ppt/notesMasters/notesMaster1.xml" Id="R9d82cf86dcb045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5e8fa8f7f6415b" /><Relationship Type="http://schemas.openxmlformats.org/officeDocument/2006/relationships/notesMaster" Target="/ppt/notesMasters/notesMaster1.xml" Id="R1e14fbe8e05f47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ef1155b92b4370" /><Relationship Type="http://schemas.openxmlformats.org/officeDocument/2006/relationships/notesMaster" Target="/ppt/notesMasters/notesMaster1.xml" Id="Rf14ff88353684c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6019fcd9344cb1" /><Relationship Type="http://schemas.openxmlformats.org/officeDocument/2006/relationships/notesMaster" Target="/ppt/notesMasters/notesMaster1.xml" Id="Ra5e148f2990947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64cefbf1bf46fc" /><Relationship Type="http://schemas.openxmlformats.org/officeDocument/2006/relationships/notesMaster" Target="/ppt/notesMasters/notesMaster1.xml" Id="R9aae7269dc9743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55e4134a744482" /><Relationship Type="http://schemas.openxmlformats.org/officeDocument/2006/relationships/notesMaster" Target="/ppt/notesMasters/notesMaster1.xml" Id="R8fb0d858ac8242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6f2fad58c24813" /><Relationship Type="http://schemas.openxmlformats.org/officeDocument/2006/relationships/notesMaster" Target="/ppt/notesMasters/notesMaster1.xml" Id="R84dd16e43ec342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c2946ce65d4bf9" /><Relationship Type="http://schemas.openxmlformats.org/officeDocument/2006/relationships/notesMaster" Target="/ppt/notesMasters/notesMaster1.xml" Id="R80c5cd4b51f644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a71930121f4e52" /><Relationship Type="http://schemas.openxmlformats.org/officeDocument/2006/relationships/notesMaster" Target="/ppt/notesMasters/notesMaster1.xml" Id="R38a3561b839f49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7455a40f9a41cc" /><Relationship Type="http://schemas.openxmlformats.org/officeDocument/2006/relationships/notesMaster" Target="/ppt/notesMasters/notesMaster1.xml" Id="Rae5e7c14c4ab41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340e3608374aa2" /><Relationship Type="http://schemas.openxmlformats.org/officeDocument/2006/relationships/notesMaster" Target="/ppt/notesMasters/notesMaster1.xml" Id="R658a398aba9c4b2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35e629372844f3f" /><Relationship Type="http://schemas.openxmlformats.org/officeDocument/2006/relationships/notesMaster" Target="/ppt/notesMasters/notesMaster1.xml" Id="R09d1bcbae5c44a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24c45f50141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11db31c4944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a804e767045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60788a5234f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dd5bcf5b64e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81921d8f543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7ae737c5741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72d476f30433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1c3fb21954b7a" /><Relationship Type="http://schemas.openxmlformats.org/officeDocument/2006/relationships/image" Target="/ppt/media/image.png" Id="R979b6035743e43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b1a7d0d18c4a62" /><Relationship Type="http://schemas.openxmlformats.org/officeDocument/2006/relationships/image" Target="/ppt/media/image2.png" Id="R8ce95322a82140a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979b6035743e434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8ce95322a82140a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36965e51e74978" /><Relationship Type="http://schemas.openxmlformats.org/officeDocument/2006/relationships/slideLayout" Target="/ppt/slideLayouts/slideLayout1.xml" Id="Ra70b0e6e834e4f8e" /><Relationship Type="http://schemas.openxmlformats.org/officeDocument/2006/relationships/slideLayout" Target="/ppt/slideLayouts/slideLayout2.xml" Id="R8a80950d147e48f7" /><Relationship Type="http://schemas.openxmlformats.org/officeDocument/2006/relationships/slideLayout" Target="/ppt/slideLayouts/slideLayout3.xml" Id="Rd3760ae7c30c4295" /><Relationship Type="http://schemas.openxmlformats.org/officeDocument/2006/relationships/slideLayout" Target="/ppt/slideLayouts/slideLayout4.xml" Id="R43b9a7ea9a254211" /><Relationship Type="http://schemas.openxmlformats.org/officeDocument/2006/relationships/slideLayout" Target="/ppt/slideLayouts/slideLayout5.xml" Id="Re4c6d64217024499" /><Relationship Type="http://schemas.openxmlformats.org/officeDocument/2006/relationships/slideLayout" Target="/ppt/slideLayouts/slideLayout6.xml" Id="Rd8a00dc9f09c4a65" /><Relationship Type="http://schemas.openxmlformats.org/officeDocument/2006/relationships/slideLayout" Target="/ppt/slideLayouts/slideLayout7.xml" Id="Rfe9725b993414584" /><Relationship Type="http://schemas.openxmlformats.org/officeDocument/2006/relationships/slideLayout" Target="/ppt/slideLayouts/slideLayout8.xml" Id="Rfa9087749b5e419f" /><Relationship Type="http://schemas.openxmlformats.org/officeDocument/2006/relationships/slideLayout" Target="/ppt/slideLayouts/slideLayout9.xml" Id="Rcbb6fee6788f4009" /><Relationship Type="http://schemas.openxmlformats.org/officeDocument/2006/relationships/slideLayout" Target="/ppt/slideLayouts/slideLayout10.xml" Id="Raf26623d7d034b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0b0e6e834e4f8e"/>
    <p:sldLayoutId xmlns:r="http://schemas.openxmlformats.org/officeDocument/2006/relationships" id="2147483650" r:id="R8a80950d147e48f7"/>
    <p:sldLayoutId xmlns:r="http://schemas.openxmlformats.org/officeDocument/2006/relationships" id="2147483651" r:id="Rd3760ae7c30c4295"/>
    <p:sldLayoutId xmlns:r="http://schemas.openxmlformats.org/officeDocument/2006/relationships" id="2147483652" r:id="R43b9a7ea9a254211"/>
    <p:sldLayoutId xmlns:r="http://schemas.openxmlformats.org/officeDocument/2006/relationships" id="2147483653" r:id="Re4c6d64217024499"/>
    <p:sldLayoutId xmlns:r="http://schemas.openxmlformats.org/officeDocument/2006/relationships" id="2147483654" r:id="Rd8a00dc9f09c4a65"/>
    <p:sldLayoutId xmlns:r="http://schemas.openxmlformats.org/officeDocument/2006/relationships" id="2147483655" r:id="Rfe9725b993414584"/>
    <p:sldLayoutId xmlns:r="http://schemas.openxmlformats.org/officeDocument/2006/relationships" id="2147483656" r:id="Rfa9087749b5e419f"/>
    <p:sldLayoutId xmlns:r="http://schemas.openxmlformats.org/officeDocument/2006/relationships" id="2147483657" r:id="Rcbb6fee6788f4009"/>
    <p:sldLayoutId xmlns:r="http://schemas.openxmlformats.org/officeDocument/2006/relationships" id="2147483658" r:id="Raf26623d7d034bb7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356fd58a540c1" /><Relationship Type="http://schemas.openxmlformats.org/officeDocument/2006/relationships/notesSlide" Target="/ppt/notesSlides/notesSlide1.xml" Id="R2accc633fb814a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daa43a26e483e" /><Relationship Type="http://schemas.openxmlformats.org/officeDocument/2006/relationships/notesSlide" Target="/ppt/notesSlides/notesSlide2.xml" Id="R41c659facbd749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99dbe75e054622" /><Relationship Type="http://schemas.openxmlformats.org/officeDocument/2006/relationships/notesSlide" Target="/ppt/notesSlides/notesSlide3.xml" Id="R68e78bb5e0ff4e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2fce9fe3a54417" /><Relationship Type="http://schemas.openxmlformats.org/officeDocument/2006/relationships/notesSlide" Target="/ppt/notesSlides/notesSlide4.xml" Id="R626eb9b09f214c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2b06d86004164" /><Relationship Type="http://schemas.openxmlformats.org/officeDocument/2006/relationships/notesSlide" Target="/ppt/notesSlides/notesSlide5.xml" Id="R8c97398e23f64e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883c4390c46ae" /><Relationship Type="http://schemas.openxmlformats.org/officeDocument/2006/relationships/notesSlide" Target="/ppt/notesSlides/notesSlide6.xml" Id="R9b3d9205eb6d49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17207f46b4535" /><Relationship Type="http://schemas.openxmlformats.org/officeDocument/2006/relationships/notesSlide" Target="/ppt/notesSlides/notesSlide7.xml" Id="Rb5bd055bea3b48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0ceec7174fc4eae" /><Relationship Type="http://schemas.openxmlformats.org/officeDocument/2006/relationships/notesSlide" Target="/ppt/notesSlides/notesSlide8.xml" Id="R4f84af5d7c5d4c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abd182c71482d" /><Relationship Type="http://schemas.openxmlformats.org/officeDocument/2006/relationships/notesSlide" Target="/ppt/notesSlides/notesSlide9.xml" Id="R1845683ff84e47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eb3c6868542c8" /><Relationship Type="http://schemas.openxmlformats.org/officeDocument/2006/relationships/notesSlide" Target="/ppt/notesSlides/notesSlide10.xml" Id="R87a14a3fcc7040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88045a4af41a4" /><Relationship Type="http://schemas.openxmlformats.org/officeDocument/2006/relationships/notesSlide" Target="/ppt/notesSlides/notesSlide11.xml" Id="Rb19cb3d7f6e940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624c306154c90" /><Relationship Type="http://schemas.openxmlformats.org/officeDocument/2006/relationships/notesSlide" Target="/ppt/notesSlides/notesSlide12.xml" Id="R0cc436c8367e4f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e0acddd6b7f4507" /><Relationship Type="http://schemas.openxmlformats.org/officeDocument/2006/relationships/notesSlide" Target="/ppt/notesSlides/notesSlide13.xml" Id="R2432fd95d8204b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432fe0fa0cb4852" /><Relationship Type="http://schemas.openxmlformats.org/officeDocument/2006/relationships/notesSlide" Target="/ppt/notesSlides/notesSlide14.xml" Id="R2e7e1c4fd3df44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4225b8d1a44a4" /><Relationship Type="http://schemas.openxmlformats.org/officeDocument/2006/relationships/notesSlide" Target="/ppt/notesSlides/notesSlide15.xml" Id="R985d1c4211044b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b73ee949d457a" /><Relationship Type="http://schemas.openxmlformats.org/officeDocument/2006/relationships/chart" Target="/ppt/slides/charts/chart1.xml" Id="Rdd04d5579ffe43da" /><Relationship Type="http://schemas.openxmlformats.org/officeDocument/2006/relationships/notesSlide" Target="/ppt/notesSlides/notesSlide16.xml" Id="Rdf9872c0198542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45f93477e4ed1" /><Relationship Type="http://schemas.openxmlformats.org/officeDocument/2006/relationships/chart" Target="/ppt/slides/charts/chart2.xml" Id="Rcd62db1061674def" /><Relationship Type="http://schemas.openxmlformats.org/officeDocument/2006/relationships/notesSlide" Target="/ppt/notesSlides/notesSlide17.xml" Id="Rafaa5d6689d740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458dd867cad4688" /><Relationship Type="http://schemas.openxmlformats.org/officeDocument/2006/relationships/notesSlide" Target="/ppt/notesSlides/notesSlide18.xml" Id="Raa0b1e3189d648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500c3d82d364357" /><Relationship Type="http://schemas.openxmlformats.org/officeDocument/2006/relationships/notesSlide" Target="/ppt/notesSlides/notesSlide19.xml" Id="R173b4d79fcc640d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f21288221784af4" /><Relationship Type="http://schemas.openxmlformats.org/officeDocument/2006/relationships/notesSlide" Target="/ppt/notesSlides/notesSlide20.xml" Id="R1d2535d4bba746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c61729a9b194185" /><Relationship Type="http://schemas.openxmlformats.org/officeDocument/2006/relationships/notesSlide" Target="/ppt/notesSlides/notesSlide21.xml" Id="R9427ffea90374d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6d994f18e84ee9" /><Relationship Type="http://schemas.openxmlformats.org/officeDocument/2006/relationships/notesSlide" Target="/ppt/notesSlides/notesSlide22.xml" Id="R199632de5b814d1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621f22ca7dd405b" /><Relationship Type="http://schemas.openxmlformats.org/officeDocument/2006/relationships/notesSlide" Target="/ppt/notesSlides/notesSlide23.xml" Id="R6152a86d7db3466f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模型准确率（%）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ln xmlns:a="http://schemas.openxmlformats.org/drawingml/2006/main" w="28575">
              <a:solidFill>
                <a:srgbClr val="156082"/>
              </a:solidFill>
              <a:prstDash val="solid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99.7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演示目标</c:v>
                </c:pt>
              </c:strCache>
            </c:strRef>
          </c:tx>
          <c:spPr>
            <a:ln xmlns:a="http://schemas.openxmlformats.org/drawingml/2006/main" w="19050">
              <a:solidFill>
                <a:srgbClr val="E97132"/>
              </a:solidFill>
              <a:prstDash val="dash"/>
            </a:ln>
          </c:spPr>
          <c:marker>
            <c:symbol val="none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1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按房间统计事件数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事件数</c:v>
                </c:pt>
              </c:strCache>
            </c:strRef>
          </c:tx>
          <c:spPr>
            <a:solidFill xmlns:a="http://schemas.openxmlformats.org/drawingml/2006/main">
              <a:srgbClr val="156082"/>
            </a:solidFill>
            <a:ln xmlns:a="http://schemas.openxmlformats.org/drawingml/2006/main">
              <a:noFill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7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7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基于 Python 与 NLP 的</a:t>
            </a:r>
          </a:p>
          <a:p xmlns:a="http://schemas.openxmlformats.org/drawingml/2006/main">
            <a:r>
              <a:rPr sz="7200"/>
              <a:t>智能家居控制助手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Python 编程综合实训</a:t>
            </a:r>
          </a:p>
          <a:p xmlns:a="http://schemas.openxmlformats.org/drawingml/2006/main">
            <a:r>
              <a:rPr sz="2000"/>
              <a:t>2023级智能科学与技术1班</a:t>
            </a:r>
          </a:p>
          <a:p xmlns:a="http://schemas.openxmlformats.org/drawingml/2006/main">
            <a:r>
              <a:rPr sz="2000"/>
              <a:t>2026年6月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项目汇报 PPT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不少于 20 页 · 含代码演示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6A32FBD-471B-0EBA-B741-E0342E7229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6FE9EA6-28D5-24F6-5682-5886DC125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911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汇报目录</a:t>
            </a:r>
          </a:p>
        </p:txBody>
      </p:sp>
      <p:sp>
        <p:nvSpPr>
          <p:cNvPr id="4" name="Title 2">
            <a:extLst xmlns:a="http://schemas.openxmlformats.org/drawingml/2006/main">
              <a:ext uri="{FF2B5EF4-FFF2-40B4-BE49-F238E27FC236}">
                <a16:creationId xmlns:a16="http://schemas.microsoft.com/office/drawing/2014/main" id="{2F10929B-DEFF-CE26-DEB7-6097A95B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44008"/>
            <a:ext cx="5867400" cy="4659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900" b="0" i="0" u="none" cap="none">
                <a:solidFill>
                  <a:srgbClr val="000000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项目背景与需求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系统架构与模块</a:t>
            </a:r>
          </a:p>
          <a:p xmlns:a="http://schemas.openxmlformats.org/drawingml/2006/main">
            <a:pPr marL="514350" indent="-514350">
              <a:spcAft>
                <a:spcPts val="800"/>
              </a:spcAft>
              <a:buAutoNum type="arabicPeriod"/>
            </a:pPr>
            <a:r>
              <a:t>NLP 解析与模型训练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GUI、状态看板与 API 增强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代码演示与大数据侧车</a:t>
            </a:r>
          </a:p>
          <a:p xmlns:a="http://schemas.openxmlformats.org/drawingml/2006/main">
            <a:pPr marL="514350" indent="-514350">
              <a:spcAft>
                <a:spcPts val="600"/>
              </a:spcAft>
              <a:buAutoNum type="arabicPeriod"/>
            </a:pPr>
            <a:r>
              <a:t>测试结果与总结</a:t>
            </a:r>
          </a:p>
        </p:txBody>
      </p:sp>
    </p:spTree>
    <p:extLst>
      <p:ext uri="{BB962C8B-B14F-4D97-AF65-F5344CB8AC3E}">
        <p14:creationId xmlns:p14="http://schemas.microsoft.com/office/powerpoint/2010/main" val="23825632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为什么要做这个系统：把口语指令变成可靠控制动作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需求痛点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中文短句没有空格分词，用户还会说“床帘”“关上”“太闷了”等口语表达。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项目定位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用本地规则 + 轻量机器学习完成离线可运行的智能家居语义解析，并支持可选 API 增强。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0B8991-15CE-5924-F040-9CC6E6C804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977136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系统能力覆盖从输入、理解、执行到展示的完整闭环。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60879D-9A12-E66E-63A7-9EAE035EDE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64CA8E-885C-5948-3B1F-1E7285BD2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项目目标与核心功能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9A77EF8F-7D2D-B0A4-22FC-0DFD48E5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032000"/>
            <a:ext cx="2581975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053458-0312-2074-FD20-BF977E26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957" y="2032000"/>
            <a:ext cx="2597343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368FE714-E23E-EF23-52EC-6BCED49E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256" y="4204277"/>
            <a:ext cx="2145400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本地解析主线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文本归一化、场景模式、OOS 拒识、槽位抽取、批量动作生成。</a:t>
            </a:r>
          </a:p>
        </p:txBody>
      </p:sp>
      <p:sp>
        <p:nvSpPr>
          <p:cNvPr id="5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B866A88-0792-644A-55AC-C2F19886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210" y="4204277"/>
            <a:ext cx="2149303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交互与展示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Tkinter GUI、控制台、网页看板、共享 JSON 状态文件。</a:t>
            </a:r>
          </a:p>
        </p:txBody>
      </p:sp>
    </p:spTree>
    <p:extLst>
      <p:ext uri="{BB962C8B-B14F-4D97-AF65-F5344CB8AC3E}">
        <p14:creationId xmlns:p14="http://schemas.microsoft.com/office/powerpoint/2010/main" val="9070364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系统架构</a:t>
            </a:r>
          </a:p>
          <a:p xmlns:a="http://schemas.openxmlformats.org/drawingml/2006/main">
            <a:r>
              <a:rPr sz="4200"/>
              <a:t>与模块协作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输入 → 解析 → 状态 → 看板 / 侧车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567542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/>
              <a:t>核心模块总览</a:t>
            </a:r>
          </a:p>
        </p:txBody>
      </p:sp>
      <p:sp>
        <p:nvSpPr>
          <p:cNvPr id="1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DC9865B-389E-575A-D40D-26A2FFFE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8" y="4090452"/>
            <a:ext cx="1798975" cy="329685"/>
          </a:xfrm>
          <a:custGeom xmlns:a="http://schemas.openxmlformats.org/drawingml/2006/main"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475569"/>
                </a:solidFill>
              </a:rPr>
              <a:t>run_app.py</a:t>
            </a:r>
          </a:p>
        </p:txBody>
      </p:sp>
      <p:sp>
        <p:nvSpPr>
          <p:cNvPr id="12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3201926-F9F4-32E6-7D48-074AC3A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95" y="4090452"/>
            <a:ext cx="1798975" cy="329685"/>
          </a:xfrm>
          <a:custGeom xmlns:a="http://schemas.openxmlformats.org/drawingml/2006/main"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475569"/>
                </a:solidFill>
              </a:rPr>
              <a:t>src/app.py</a:t>
            </a:r>
          </a:p>
        </p:txBody>
      </p:sp>
      <p:sp>
        <p:nvSpPr>
          <p:cNvPr id="13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88AB206-FB3B-AF06-B7BA-4F55972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512" y="4090452"/>
            <a:ext cx="1798975" cy="329685"/>
          </a:xfrm>
          <a:custGeom xmlns:a="http://schemas.openxmlformats.org/drawingml/2006/main"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475569"/>
                </a:solidFill>
              </a:rPr>
              <a:t>intent_engine.py</a:t>
            </a:r>
          </a:p>
        </p:txBody>
      </p:sp>
      <p:sp>
        <p:nvSpPr>
          <p:cNvPr id="14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8543F5D-FC0F-34DD-58F4-644069BA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229" y="4090452"/>
            <a:ext cx="1798975" cy="329685"/>
          </a:xfrm>
          <a:custGeom xmlns:a="http://schemas.openxmlformats.org/drawingml/2006/main"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475569"/>
                </a:solidFill>
              </a:rPr>
              <a:t>trainer.py</a:t>
            </a:r>
          </a:p>
        </p:txBody>
      </p:sp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BCCBC36-09FE-D7B4-0739-34ACBAC3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78" y="5108362"/>
            <a:ext cx="1798975" cy="329685"/>
          </a:xfrm>
          <a:custGeom xmlns:a="http://schemas.openxmlformats.org/drawingml/2006/main"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475569"/>
                </a:solidFill>
              </a:rPr>
              <a:t>state_bridge.py</a:t>
            </a:r>
          </a:p>
        </p:txBody>
      </p:sp>
      <p:sp>
        <p:nvSpPr>
          <p:cNvPr id="16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B41F8D0-B18F-D5E7-B875-27270F90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795" y="5108362"/>
            <a:ext cx="1798975" cy="329685"/>
          </a:xfrm>
          <a:custGeom xmlns:a="http://schemas.openxmlformats.org/drawingml/2006/main"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475569"/>
                </a:solidFill>
              </a:rPr>
              <a:t>status_dashboard.py</a:t>
            </a:r>
          </a:p>
        </p:txBody>
      </p:sp>
      <p:sp>
        <p:nvSpPr>
          <p:cNvPr id="17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F82F139-30A2-B5D6-E015-4CE4DE30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512" y="5108362"/>
            <a:ext cx="1798975" cy="329685"/>
          </a:xfrm>
          <a:custGeom xmlns:a="http://schemas.openxmlformats.org/drawingml/2006/main"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475569"/>
                </a:solidFill>
              </a:rPr>
              <a:t>api_llm.py</a:t>
            </a:r>
          </a:p>
        </p:txBody>
      </p:sp>
      <p:sp>
        <p:nvSpPr>
          <p:cNvPr id="18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F19C03C-021B-A9F0-99C7-5FF494C9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229" y="5108362"/>
            <a:ext cx="1798975" cy="329685"/>
          </a:xfrm>
          <a:custGeom xmlns:a="http://schemas.openxmlformats.org/drawingml/2006/main"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475569"/>
                </a:solidFill>
              </a:rPr>
              <a:t>linux_bigdata/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主要文件职责对照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393700" y="2374900"/>
          <a:ext xmlns:a="http://schemas.openxmlformats.org/drawingml/2006/main" cx="11404599" cy="34956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文件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职责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主要输入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主要输出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配合模块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run_app.py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启动桌面 GUI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用户运行命令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Tkinter 主窗口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src/app.py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intent_engine.py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意图解析核心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中文指令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ParseResult / commands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models/*.joblib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trainer.py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训练四个模型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data/*.csv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joblib + metrics.json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data_builder.py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state_bridge.py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同步设备状态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ControlCommand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home_state.json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GUI / 控制台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status_dashboard.py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生成 HTML 看板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状态字典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home_status.html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浏览器刷新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api_llm.py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可选大模型解析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文本 + API Key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JSON 语义帧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本地引擎兜底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linux_bigdata/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事件侧车分析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状态/演示事件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CSV / report.md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批处理/窗口统计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本地解析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规则优先处理场景、批量、环境语义和别名归一化；TF-IDF + Logistic Regression 负责普通短句分类。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优点：离线可运行、速度快、逻辑可解释，适合课程展示和基础控制闭环。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API 增强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配置 DEEPSEEK_API_KEY 后，api_llm.py 请求 OpenAI-compatible Chat Completions，让模型输出 JSON 语义帧。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防护：返回结果必须通过房间、设备、动作白名单校验，不接受模型编造的设备。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本地模型与 API 增强的分工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系统运行链路：解析结果驱动共享状态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GUI、控制台和语音输入最终都进入同一套 ParseResult / ControlCommand 数据结构。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输入层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文本框、语音识别、API 按钮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解析层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规则场景识别 + TF-IDF/LogReg 槽位模型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状态层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apply_parse_result 写入 runtime/home_state.json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数据流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用户指令 → 语义帧 → 设备动作 → JSON 状态 → GUI / HTML / 侧车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关键点：状态文件是跨界面、跨脚本、跨平台扩展的共享契约。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ABB6C87-C52B-3F11-5554-E7FE5D65E5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709CCEE-3EDC-7C6A-83E6-F3B9811F16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数据集与模型设计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A18C159-1C68-49B0-2B79-A5EBCE97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4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模板构造覆盖 7 个房间、8 类设备、2 类动作，并加入游戏、软件、天气等负样本，训练 OOS 拒识能力。</a:t>
            </a:r>
          </a:p>
        </p:txBody>
      </p:sp>
      <p:graphicFrame>
        <p:nvGraphicFramePr>
          <p:cNvPr id="538" name="Table 4"/>
          <p:cNvGraphicFramePr/>
          <p:nvPr/>
        </p:nvGraphicFramePr>
        <p:xfrm>
          <a:off xmlns:a="http://schemas.openxmlformats.org/drawingml/2006/main" x="400938" y="2374900"/>
          <a:ext xmlns:a="http://schemas.openxmlformats.org/drawingml/2006/main" cx="11404602" cy="361950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628"/>
                <a:gridCol w="870886"/>
                <a:gridCol w="870886"/>
                <a:gridCol w="870886"/>
                <a:gridCol w="870886"/>
                <a:gridCol w="870886"/>
                <a:gridCol w="870886"/>
                <a:gridCol w="870886"/>
                <a:gridCol w="870886"/>
                <a:gridCol w="870886"/>
              </a:tblGrid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模块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数据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输入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输出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特征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模型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指标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文件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风险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改进</a:t>
                      </a:r>
                    </a:p>
                  </a:txBody>
                  <a:tcPr marL="0" marR="91440" marT="45720" marB="45720"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二分类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3345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短句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0/1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 1-3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LogReg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99.7%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binary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模板偏高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真实语料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地点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2880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短句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7类房间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 1-3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LogReg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100%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location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口语不足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补充别名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设备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2880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短句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8类设备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 1-3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LogReg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100%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device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设备少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扩展清单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动作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2880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短句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打开/关闭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char 1-3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LogReg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100%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动作少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调节/查询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场景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规则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我出门了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多动作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触发词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规则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命中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engine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覆盖有限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更多场景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环境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规则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太闷/太暗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推理动作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关键词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规则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命中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engine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语义有限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传感数据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API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可选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复杂口语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JSON帧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Prompt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LLM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校验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api_llm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网络依赖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回退策略</a:t>
                      </a:r>
                    </a:p>
                  </a:txBody>
                  <a:tcPr marL="0" marR="91440" marT="45720" marB="45720" anchor="ctr">
                    <a:lnT w="12700" cmpd="sng">
                      <a:solidFill>
                        <a:schemeClr val="tx1"/>
                      </a:solidFill>
                      <a:prstDash val="solid"/>
                    </a:lnT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9694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3937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2369856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4356100"/>
            <a:ext cx="5867400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1" y="344008"/>
            <a:ext cx="4928108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三项关键技术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61100" y="672952"/>
            <a:ext cx="5287433" cy="1079796"/>
          </a:xfrm>
        </p:spPr>
        <p:txBody>
          <a:bodyPr xmlns:a="http://schemas.openxmlformats.org/drawingml/2006/main">
            <a:normAutofit fontScale="7739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规则优先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场景模式、环境语义、别名归一化先处理，避免“我出门了”等多动作指令被单槽位模型误判。</a:t>
            </a: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664788"/>
            <a:ext cx="5287433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44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模型兜底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字符级 TF-IDF 适合中文短句，无需分词；Logistic Regression 训练快、可解释。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656290"/>
            <a:ext cx="5287433" cy="1037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753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安全拒识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设备词 + 动作词粗筛，再用二分类置信度阈值，降低“打开原神”误触发风险。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模块协作关系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data_builder.py 生成 binary / multi-slot CSV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数据构建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trainer.py 写入 models/*.joblib 和 metrics.json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模型训练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intent_engine.py 输出 ParseResult 和动作列表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本地解析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state_bridge.py 更新 runtime/home_state.json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状态同步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app.py 与 status_dashboard.py 展示解析和设备状态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界面展示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linux_bigdata/ 读取事件日志并生成统计报表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数据侧车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D71EE4F-3D11-F21C-BED3-0D2E53F4B0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文本归一化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床帘→窗帘，排气扇→排风扇，关上/关了→关闭，减少同义表达造成的槽位偏差。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13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F221F66B-D015-87EF-5CC9-6CCAD265C3D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批量与场景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“关闭所有空调”展开到拥有空调的房间；“我出门了”生成 6 个关闭动作。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DB3804-DAA5-3AD0-2DBB-2B2393C3E769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状态看板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状态写入 runtime/home_state.json，HTML 每 2 秒刷新，GUI 弹窗同步读取。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关键实现细节</a:t>
            </a: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界面与扩展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完成 GUI / HTML 看板；增加 API 与大数据侧车。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阶段 3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模型与解析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训练四个模型；加入场景、批量、拒识规则。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阶段 1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项目实现时间线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阶段 2</a:t>
            </a:r>
          </a:p>
        </p:txBody>
      </p:sp>
      <p:cxnSp>
        <p:nvCxnSpPr>
          <p:cNvPr id="5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需求与数据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定义房间、设备、动作词表；构造正负样本。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当前项目规模与指标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7间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房间范围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客厅、卧室、厨房等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8类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设备类型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灯、空调、窗帘、风扇等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4个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本地模型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意图二分类 + 三个槽位模型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99.7%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二分类准确率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metrics.json 实测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指标来自本次运行 python train_models.py 后生成的 models/metrics.json；模板数据覆盖课程演示，真实语音场景仍需补充数据。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58DB759-9AE5-E6B9-B76C-E329FE24620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613FBFDF-16BF-0D53-2A1B-04B010762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模型训练结果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AE798CC-FC9E-8FD6-B40A-60BD9A43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4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99.7%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CB39FDF-C879-3F75-4B5B-F3AB960C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392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binary_intent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家居/非家居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38DC2B0-2494-42A8-504F-21F6B5C2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979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2C5D82D2-ECA3-145C-27B1-5F3350F9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97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slot models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地点/设备/动作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A1700D6-925B-7147-7F15-10B86FF7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C43755-957A-12EE-615F-F99E996A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9788EE4-D0CC-A10B-FC9E-1FB3B83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A94CC6B8-25E6-8162-65F2-80B98D57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709230"/>
            <a:ext cx="5292194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训练命令：python train_models.py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输出：binary_intent 0.997；location / device / action 均为 1.0。</a:t>
            </a:r>
          </a:p>
        </p:txBody>
      </p:sp>
      <p:graphicFrame>
        <p:nvGraphicFramePr>
          <p:cNvPr id="54" name="Chart 6"/>
          <p:cNvGraphicFramePr/>
          <p:nvPr/>
        </p:nvGraphicFramePr>
        <p:xfrm>
          <a:off xmlns:a="http://schemas.openxmlformats.org/drawingml/2006/main" x="638705" y="1254716"/>
          <a:ext xmlns:a="http://schemas.openxmlformats.org/drawingml/2006/main" cx="5124182" cy="5024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04d5579ffe43da"/>
          </a:graphicData>
        </a:graphic>
      </p:graphicFrame>
    </p:spTree>
    <p:extLst>
      <p:ext uri="{BB962C8B-B14F-4D97-AF65-F5344CB8AC3E}">
        <p14:creationId xmlns:p14="http://schemas.microsoft.com/office/powerpoint/2010/main" val="43184246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D38D868-3ADE-676B-438C-29D7611110B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17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378F6A60-947D-E6BF-D14C-3BCF6C2DA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大数据侧车统计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46924B0-E252-6F41-AEF6-707576EE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4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36条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6FBCDC5-76EC-145C-18F3-9CE37FE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392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演示事件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command_replay --repeat 2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F99D628-85E5-7316-AD95-3EE427B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9979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7间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BB7D59C4-643D-649E-C83F-B879BFF2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97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覆盖房间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Top3: 客厅 / 卧室 / 厨房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E63CD2B-5701-6476-A7B4-22B60FFE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86CDAE5-C90E-598F-EF23-9C2405A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0D826E-5909-476F-F491-0FBCE01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356100"/>
            <a:ext cx="67129" cy="11520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D234CE49-8AE1-9C3B-D7C5-6240A6EF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709230"/>
            <a:ext cx="5292194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068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侧车读取 events.jsonl，不修改主程序状态；batch_analyze 输出 CSV 与 Markdown 报告，stream_window 模拟实时窗口。</a:t>
            </a:r>
          </a:p>
        </p:txBody>
      </p:sp>
      <p:graphicFrame>
        <p:nvGraphicFramePr>
          <p:cNvPr id="54" name="Chart 6"/>
          <p:cNvGraphicFramePr/>
          <p:nvPr/>
        </p:nvGraphicFramePr>
        <p:xfrm>
          <a:off xmlns:a="http://schemas.openxmlformats.org/drawingml/2006/main" x="638705" y="1254716"/>
          <a:ext xmlns:a="http://schemas.openxmlformats.org/drawingml/2006/main" cx="5124182" cy="5024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62db1061674def"/>
          </a:graphicData>
        </a:graphic>
      </p:graphicFrame>
    </p:spTree>
    <p:extLst>
      <p:ext uri="{BB962C8B-B14F-4D97-AF65-F5344CB8AC3E}">
        <p14:creationId xmlns:p14="http://schemas.microsoft.com/office/powerpoint/2010/main" val="7661538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单设备控制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打开客厅空调、关闭卧室灯，直接提取位置 / 设备 / 动作。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示例：客厅空调打开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18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批量与多房间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关闭所有空调、把客厅和卧室的灯都关了，展开为多条 ControlCommand。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示例：4 个空调动作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场景 / 环境语义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我出门了、睡觉了、厨房太闷了，转为场景联动或推理动作。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示例：厨房油烟机打开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系统支持的指令类型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02CFE3A-BCC1-081C-E12A-0C43D45632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项目汇报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8553E75-49E9-9C40-983B-A38A5D9DE5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19</a:t>
            </a:fld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0DED229D-8FB1-A98B-48DE-0F84D8CCF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交互体验与展示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C769086-2F0B-B36D-7560-45B38E8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4B4F040-FAA4-CBA4-C03F-67330800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3282E3A-FC17-B9FF-87A4-5434FC2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2E4F352-DEC2-5D62-627F-FCEDE88978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Tkinter GUI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输入、按钮、结果、日志、独立状态看板集中在桌面窗口中。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9F8FFA6-07EE-FB23-ECDF-907422B2BA20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HTML 看板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读取 JSON 状态，浏览器每 2 秒自动刷新，适合投屏演示。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FA7F576-9166-371F-C253-9344F3BA9E13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779935"/>
            <a:ext cx="2949339" cy="256676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控制台入口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无 GUI 时运行 run_console.py，快速验证解析和状态写入。</a:t>
            </a:r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Step 1 训练模型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python train_models.py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20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Step 2 指令解析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from src.intent_engine import SmartHomeIntentEngine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engine.parse('厨房太闷了')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Step 3 数据侧车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python linux_bigdata\command_replay.py --repeat 2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代码演示环节：现场可按三步运行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输出准确率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binary_intent: 0.997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location/device/action: 1.0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查看 models/metrics.json</a:t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7963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演示输入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打开客厅空调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打开卧室床帘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关闭所有空调</a:t>
            </a:r>
          </a:p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我出门了</a:t>
            </a:r>
          </a:p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厨房太闷了</a:t>
            </a:r>
          </a:p>
          <a:p xmlns:a="http://schemas.openxmlformats.org/drawingml/2006/main">
            <a:pPr marL="0" indent="0">
              <a:buNone/>
            </a:pPr>
            <a:r>
              <a:rPr sz="1275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打开原神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后续命令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show_events.py --limit 5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batch_analyze.py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275" b="0" i="0" u="none" cap="none">
                <a:ln>
                  <a:noFill/>
                </a:ln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stream_window.py --once</a:t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A1C5C1-82D9-B99C-E103-C2AFD66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41925A4-50C3-437F-A6B5-E405844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00BBE53-5F2F-7CC8-0538-CFB4A20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8E121FC-0773-4D41-B407-A75A7E27D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解析能力覆盖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单设备、批量、场景、环境、归一化、拒识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284B6E6-EAE6-BB6F-9352-FADE91E661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21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9D4C67A-8BD6-C687-51C1-8B93C00A9C1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事件数据输出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events.jsonl 演示事件，生成 CSV 和 report.md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7792D87E-883F-7EB3-D970-8BBDA3A4CEB0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PPT 交付校验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最终 deck 使用原生 PPTX，页数超过要求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16EA3E-3493-D910-145D-D2D69654D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代码演示得到的关键输出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29AC257-FA74-9B02-D6B1-395CA5E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6类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38336FA-8E2C-D51C-CB90-13A312B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36条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2C7FEC6-8AD3-C75F-0FD0-2C5E2C8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23页</a:t>
            </a:r>
          </a:p>
        </p:txBody>
      </p:sp>
    </p:spTree>
    <p:extLst>
      <p:ext uri="{BB962C8B-B14F-4D97-AF65-F5344CB8AC3E}">
        <p14:creationId xmlns:p14="http://schemas.microsoft.com/office/powerpoint/2010/main" val="145991290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8745C74-45EB-AE28-C330-5C7EA227B3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22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484432" cy="6870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事实、测试与改进方向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ooter Placeholder 24">
            <a:extLst xmlns:a="http://schemas.openxmlformats.org/drawingml/2006/main"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00"/>
              <a:t>*基于本地项目文件与本次命令输出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测试结论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 条功能测试覆盖单设备、批量、场景、环境语义、拒识与看板入口，课程报告记录为通过。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改进方向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补充真实用户语料、加入更多设备、把侧车对接 Kafka / Flink 或数据库。</a:t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3345</a:t>
            </a: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二分类样本</a:t>
            </a: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2880</a:t>
            </a: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槽位样本</a:t>
            </a: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模型文件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功能测试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2s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HTML 刷新</a:t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共享状态 JSON</a:t>
            </a:r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01611E54-125B-46AF-ACEC-F5E2B66416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本项目完成了可运行的中文智能家居控制助手：从自然语言输入到结构化语义帧，再到设备状态更新。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6742AB70-A290-426D-80FC-7E01EF6B79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23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44C1DB35-0BF5-4FB9-8315-E12C5292992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价值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规则 + 模型的混合方案适合课程项目：可解释、轻量、离线可运行，并能用 API 模型扩展复杂口语。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A3023FE-D3FA-49BA-8989-E78B24DB8E3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答辩演示建议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先展示 GUI / 控制台解析，再打开 HTML 看板，最后运行 Linux 大数据侧车统计。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CA66DD5F-1663-4959-9D8D-0991798B3B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总结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DD0DC4E6-714B-4A7E-A176-E1F41E90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BE7BCADC-C736-4BBC-801D-AEA794A6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0AA09527-C57C-4A7D-8678-8F9EA122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7469831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2026-06-20T12:44:17.6040000Z</dcterms:created>
  <dcterms:modified xsi:type="dcterms:W3CDTF">2026-06-20T12:44:17.6040000Z</dcterms:modified>
</coreProperties>
</file>